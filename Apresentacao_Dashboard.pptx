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dPt>
            <c:idx val="0"/>
            <c:spPr>
              <a:solidFill>
                <a:srgbClr val="D64545"/>
              </a:solidFill>
            </c:spPr>
          </c:dPt>
          <c:dPt>
            <c:idx val="1"/>
            <c:spPr>
              <a:solidFill>
                <a:srgbClr val="E8782A"/>
              </a:solidFill>
            </c:spPr>
          </c:dPt>
          <c:dPt>
            <c:idx val="2"/>
            <c:spPr>
              <a:solidFill>
                <a:srgbClr val="E8A317"/>
              </a:solidFill>
            </c:spPr>
          </c:dPt>
          <c:dPt>
            <c:idx val="3"/>
            <c:spPr>
              <a:solidFill>
                <a:srgbClr val="2E9E5B"/>
              </a:solidFill>
            </c:spPr>
          </c:dPt>
          <c:cat>
            <c:strRef>
              <c:f>Sheet1!$A$2:$A$5</c:f>
              <c:strCache>
                <c:ptCount val="4"/>
                <c:pt idx="0">
                  <c:v>Vencido</c:v>
                </c:pt>
                <c:pt idx="1">
                  <c:v>Vence hoje</c:v>
                </c:pt>
                <c:pt idx="2">
                  <c:v>Vence amanhã</c:v>
                </c:pt>
                <c:pt idx="3">
                  <c:v>À vencer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tarde a todos. Hoje eu quero mostrar uma ideia que começou pequena, dentro da nossa operação, e que hoje já mudou a forma como a gente trabalha. Não é uma apresentação técnica. É a história de um problema que todo mundo aqui conhece e de como a gente resolveu. No final, quero propor que a gente leve isso para as outras áreas. As telas que vocês vão ver são do aplicativo funcionando, com dados de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mundo aqui conhece essa cena. Uma planilha compartilhada, várias pessoas mexendo ao mesmo tempo, cada uma preenchendo do seu jeito. Não existia campo validado nem regra: se alguém digitasse errado, ficava errado. E o erro não ficava parado na célula. Ele quebrava filtro, quebrava relatório, e em alguns momentos a operação precisava parar para corrigir. O problema nunca foi a pessoa. Foi a ferramenta não ter nenhuma proteção.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Explicando sem termo técnico: são três camadas. Na ponta, o aplicativo, que é o que o analista usa no dia a dia. No meio, uma base única, onde tudo fica guardado, sem cópia nem versão paralela. E no fim, a visão de gestão, que sai pronta dessa base. Dois aplicativos já foram construídos assim: a Gestão de Rede de Reclamações e o ACP, de análise de contas pagas. Mais adiante, como evolução, entram Power Automate e Power BI. Isso ainda é proposta, não está entregue.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que resume tudo. Do lado esquerdo, como era. Do direito, como é agora. Reparem que não mudou o objetivo, que continua sendo registrar e acompanhar os casos. Mudou o jeito: o que antes dependia de atenção da pessoa agora está dentro do aplicativo. Campo validado, regra embutida, base única, cada analista com a sua fila e o prazo calculado sozinho. Embaixo, a queda de quase 100% nos erros vem da observação do piloto. [A CONFIRMAR: base de comparação.]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o coração da solução. O formulário conduz a pessoa. Na região, ela escolhe a sucursal e o aplicativo só oferece as UFs e cidades daquela sucursal. No motivo, acontece o mesmo com o submotivo. Os campos obrigatórios impedem salvar o registro incompleto e os campos calculados ficam travados. É por isso que o erro de combinação e o campo em branco praticamente deixaram de acontecer. Erro de digitação em campo livre, como nome ou protocolo, ainda pode existir.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prazo era uma das maiores fontes de risco. Agora o aplicativo calcula a partir da data de vencimento e mostra a cor: vermelho para vencido, laranja para vence hoje, amarelo para amanhã e verde para o que ainda está no prazo. Ninguém precisa abrir a planilha e fazer conta. Os números desta tela são de demonstração. Existe também uma chave, que o próprio sistema preenche, que indica quando o caso chegou para a gente já em atraso. O analista não mexe 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entra a organização do trabalho. O analista abre o aplicativo e vê somente os casos dele, sem ruído e sem risco de mexer no registro de outra pessoa. O gestor tem a visão completa e pode reatribuir um caso quando precisar redistribuir a carga. O filtro vem do e-mail da conta da pessoa. Para dados mais sensíveis, o passo seguinte é reforçar com permissão na própria lista, junto com a 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quem gerencia, a base única muda o trabalho. Antes, para saber a situação da operação era preciso juntar planilhas. Agora existe uma busca que varre todos os campos do formulário e um painel com os totais, e o gestor pode redistribuir casos. Quando entrarmos com Power BI, a ideia é evoluir esse painel, mas isso é a próxima fase e vou deixar claro que ainda não está entregue.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segundo aplicativo é o ACP, de análise de contas pagas. O processo é outro, mas o raciocínio é o mesmo. O caso passa por eventos, que são análise, pendência, réplica e tréplica, em sequência automática. O aplicativo não deixa cadastrar duas vezes o mesmo lote e senha e só pergunta o setor quando o evento é uma pendência. Também tem perfil de analista e de gestor, com redistribuição, e um painel com o total de casos e o valor total questionado. A prova de que a ideia não é de um processo 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público ganha uma coisa diferente. O analista trabalha com menos dúvida e menos retrabalho. O gestor para de montar relatório à mão e passa a enxergar a operação. A operação para de parar por erro de dado. E para a empresa o ganho é o dado confiável e um modelo que pode ser repetido. Sobre o número da esquerda: a redução de quase 100% vem da observação do piloto, e vamos formalizar a medição no próximo slide. [A CONFIRMAR: base de comparação.]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que isso seja um case sério, a gente precisa de número. Proponho acompanhar seis indicadores durante o piloto: erros de preenchimento, paradas por dado incorreto, tempo de registro, casos vencidos, tempo para montar relatório e adoção. Com uma medição antes e outra depois, na mesma operação, qualquer área consegue ver o ganho com os próprios dados, sem depender da minha palavra. Os campos 'antes' ainda estão a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Levar para outras áreas segue quatro passos. Primeiro, sentar com a área e levantar a planilha que ela usa: os campos, as regras, quem preenche. Segundo, desenhar o formulário com as listas e condicionais. Terceiro, o piloto, com um analista por canal usando de verdade. E quarto, ajustar, treinar e abrir para todos. Os manuais de treinamento que já existem servem de modelo. Prazo eu prefiro dar depois do levantamento, com a planilha real em mãos. Para fechar, o convite: cada área pensa em um processo que hoje roda em planilha e dá trabalho. Obrigado a todos. Fico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097280"/>
            <a:ext cx="6400800" cy="6400800"/>
          </a:xfrm>
          <a:prstGeom prst="ellipse">
            <a:avLst/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782A"/>
                </a:solidFill>
                <a:latin typeface="Calibri"/>
              </a:rPr>
              <a:t>CASE DE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58368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Da planilha à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60350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9D3F5"/>
                </a:solidFill>
                <a:latin typeface="Calibri"/>
              </a:rPr>
              <a:t>Um aplicativo que organizou o fluxo de trabalho e abriu caminho para outras áreas.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828800" cy="1005840"/>
          </a:xfrm>
          <a:prstGeom prst="roundRect">
            <a:avLst>
              <a:gd name="adj" fmla="val 4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956048"/>
            <a:ext cx="64008" cy="78638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19472"/>
            <a:ext cx="1554480" cy="5532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C9D3F5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29707"/>
            <a:ext cx="1554480" cy="4023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9D3F5"/>
                </a:solidFill>
                <a:latin typeface="Calibri"/>
              </a:rPr>
              <a:t>aplicativos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846320"/>
            <a:ext cx="1828800" cy="1005840"/>
          </a:xfrm>
          <a:prstGeom prst="roundRect">
            <a:avLst>
              <a:gd name="adj" fmla="val 4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4956048"/>
            <a:ext cx="64008" cy="78638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4919472"/>
            <a:ext cx="1554480" cy="5532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C9D3F5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429707"/>
            <a:ext cx="1554480" cy="4023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9D3F5"/>
                </a:solidFill>
                <a:latin typeface="Calibri"/>
              </a:rPr>
              <a:t>base única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846320"/>
            <a:ext cx="1828800" cy="1005840"/>
          </a:xfrm>
          <a:prstGeom prst="roundRect">
            <a:avLst>
              <a:gd name="adj" fmla="val 4000"/>
            </a:avLst>
          </a:prstGeom>
          <a:solidFill>
            <a:srgbClr val="132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4956048"/>
            <a:ext cx="64008" cy="78638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919472"/>
            <a:ext cx="1554480" cy="5532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C9D3F5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429707"/>
            <a:ext cx="1554480" cy="4023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9D3F5"/>
                </a:solidFill>
                <a:latin typeface="Calibri"/>
              </a:rPr>
              <a:t>perfis de acesso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9752" y="1399032"/>
            <a:ext cx="4608576" cy="26595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6ca1857a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63040"/>
            <a:ext cx="4480560" cy="253151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799831" y="3959352"/>
            <a:ext cx="3968496" cy="229788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8d6a2a1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023360"/>
            <a:ext cx="3840480" cy="216987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C9D3F5"/>
                </a:solidFill>
                <a:latin typeface="Calibri"/>
              </a:rPr>
              <a:t>Apresentação do projeto  · 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O ponto de partida: planilha, muita gente, nenhuma regra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26517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52728"/>
            <a:ext cx="64008" cy="92354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16152"/>
            <a:ext cx="2377440" cy="62865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A1B52"/>
                </a:solidFill>
                <a:latin typeface="Calibri"/>
              </a:rPr>
              <a:t>N pessoas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0594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editando a mesma planilha ao mesmo tempo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43000"/>
            <a:ext cx="26517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252728"/>
            <a:ext cx="64008" cy="923544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216152"/>
            <a:ext cx="2377440" cy="62865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A1B52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0594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campos validados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143000"/>
            <a:ext cx="26517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252728"/>
            <a:ext cx="64008" cy="923544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16152"/>
            <a:ext cx="2377440" cy="62865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A1B52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80594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regras de negócio ou condicionais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143000"/>
            <a:ext cx="26517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252728"/>
            <a:ext cx="64008" cy="92354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216152"/>
            <a:ext cx="2377440" cy="62865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A1B52"/>
                </a:solidFill>
                <a:latin typeface="Calibri"/>
              </a:rPr>
              <a:t>Paradas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05940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na operação por erro de preenchimento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51460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624328"/>
            <a:ext cx="108813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782A"/>
                </a:solidFill>
                <a:latin typeface="Calibri"/>
              </a:rPr>
              <a:t>COMO O ERRO VIRAVA PARADA</a:t>
            </a:r>
          </a:p>
        </p:txBody>
      </p:sp>
      <p:sp>
        <p:nvSpPr>
          <p:cNvPr id="26" name="Pentagon 25"/>
          <p:cNvSpPr/>
          <p:nvPr/>
        </p:nvSpPr>
        <p:spPr>
          <a:xfrm>
            <a:off x="640080" y="3017520"/>
            <a:ext cx="1783080" cy="1371600"/>
          </a:xfrm>
          <a:prstGeom prst="homePlate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017520"/>
            <a:ext cx="1508760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Planilha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compartilhada</a:t>
            </a:r>
          </a:p>
        </p:txBody>
      </p:sp>
      <p:sp>
        <p:nvSpPr>
          <p:cNvPr id="28" name="Pentagon 27"/>
          <p:cNvSpPr/>
          <p:nvPr/>
        </p:nvSpPr>
        <p:spPr>
          <a:xfrm>
            <a:off x="2468880" y="3017520"/>
            <a:ext cx="1783080" cy="1371600"/>
          </a:xfrm>
          <a:prstGeom prst="homePlate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3017520"/>
            <a:ext cx="1508760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Edição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simultânea</a:t>
            </a:r>
          </a:p>
        </p:txBody>
      </p:sp>
      <p:sp>
        <p:nvSpPr>
          <p:cNvPr id="30" name="Pentagon 29"/>
          <p:cNvSpPr/>
          <p:nvPr/>
        </p:nvSpPr>
        <p:spPr>
          <a:xfrm>
            <a:off x="4297680" y="3017520"/>
            <a:ext cx="1783080" cy="1371600"/>
          </a:xfrm>
          <a:prstGeom prst="homePlate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017520"/>
            <a:ext cx="1508760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Campo livre,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sem validação</a:t>
            </a:r>
          </a:p>
        </p:txBody>
      </p:sp>
      <p:sp>
        <p:nvSpPr>
          <p:cNvPr id="32" name="Pentagon 31"/>
          <p:cNvSpPr/>
          <p:nvPr/>
        </p:nvSpPr>
        <p:spPr>
          <a:xfrm>
            <a:off x="6126480" y="3017520"/>
            <a:ext cx="1783080" cy="1371600"/>
          </a:xfrm>
          <a:prstGeom prst="homePlate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017520"/>
            <a:ext cx="1508760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Dado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errado</a:t>
            </a:r>
          </a:p>
        </p:txBody>
      </p:sp>
      <p:sp>
        <p:nvSpPr>
          <p:cNvPr id="34" name="Pentagon 33"/>
          <p:cNvSpPr/>
          <p:nvPr/>
        </p:nvSpPr>
        <p:spPr>
          <a:xfrm>
            <a:off x="7955279" y="3017520"/>
            <a:ext cx="1783080" cy="1371600"/>
          </a:xfrm>
          <a:prstGeom prst="homePlate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3017520"/>
            <a:ext cx="1508760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Retrabalho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 correção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3017520"/>
            <a:ext cx="1783080" cy="13716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3017520"/>
            <a:ext cx="1508760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Operação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parada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029200"/>
            <a:ext cx="1124712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138928"/>
            <a:ext cx="1078992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1B52"/>
                </a:solidFill>
                <a:latin typeface="Calibri"/>
              </a:rPr>
              <a:t>O problema nunca foi a pessoa que digitava.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A1B52"/>
                </a:solidFill>
                <a:latin typeface="Calibri"/>
              </a:rPr>
              <a:t>Foi a ferramenta: nenhuma proteção entre o dado e a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 solução: três camadas, uma fonte de verdade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576072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539495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782A"/>
                </a:solidFill>
                <a:latin typeface="Calibri"/>
              </a:rPr>
              <a:t>ARQUITETURA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45920"/>
            <a:ext cx="109728" cy="12801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3736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A1B52"/>
                </a:solidFill>
                <a:latin typeface="Calibri"/>
              </a:rPr>
              <a:t>1  Aplicativo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7830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16459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Power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212848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8C"/>
                </a:solidFill>
                <a:latin typeface="Calibri"/>
              </a:rPr>
              <a:t>Formulário guiado, busca e painel. É o que o analista usa.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5468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154680"/>
            <a:ext cx="109728" cy="128016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24612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A1B52"/>
                </a:solidFill>
                <a:latin typeface="Calibri"/>
              </a:rPr>
              <a:t>2  Base única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29184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291840"/>
            <a:ext cx="16459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SharePoint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21608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8C"/>
                </a:solidFill>
                <a:latin typeface="Calibri"/>
              </a:rPr>
              <a:t>Todos gravam e leem do mesmo lugar. Sem cópias soltas.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663440"/>
            <a:ext cx="109728" cy="128016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54879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A1B52"/>
                </a:solidFill>
                <a:latin typeface="Calibri"/>
              </a:rPr>
              <a:t>3  Gestão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8006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4800600"/>
            <a:ext cx="16459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Telas do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230368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A5A8C"/>
                </a:solidFill>
                <a:latin typeface="Calibri"/>
              </a:rPr>
              <a:t>Prazos, filas e indicadores prontos, sem montar planilha.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28231" y="1170432"/>
            <a:ext cx="5248655" cy="302117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18d6a2a1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5120640" cy="2893161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492240" y="4343400"/>
            <a:ext cx="16459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4453128"/>
            <a:ext cx="64008" cy="69494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416552"/>
            <a:ext cx="13716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A1B52"/>
                </a:solidFill>
                <a:latin typeface="Calibri"/>
              </a:rP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73752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campos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19" y="4343400"/>
            <a:ext cx="16459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19" y="4453128"/>
            <a:ext cx="64008" cy="69494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199" y="4416552"/>
            <a:ext cx="13716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A1B52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199" y="4873752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seções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343400"/>
            <a:ext cx="16459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58400" y="4453128"/>
            <a:ext cx="64008" cy="69494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0" y="4416552"/>
            <a:ext cx="13716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A1B52"/>
                </a:solidFill>
                <a:latin typeface="Calibri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4873752"/>
            <a:ext cx="1371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obrigatórios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5440680"/>
            <a:ext cx="5120640" cy="868680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5440680"/>
            <a:ext cx="475488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Dois aplicativos já construídos com este modelo: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Gestão de Rede de Reclamações (SAC) e ACP.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Antes e depois: o que mudou no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COMPARATIVO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36576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ANTES · PLANILHA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4300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143000"/>
            <a:ext cx="365760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AGORA · APLICATIVO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066544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066544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920240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Campo livre, cada um do seu jeito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920240"/>
            <a:ext cx="3566160" cy="566928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920240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Preenchimento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20240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56448" y="2066544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2066544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920240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Campos validados e listas guiadas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578608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" y="2724912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724912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578608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Nenhuma, dependia de atenção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578608"/>
            <a:ext cx="3566160" cy="566928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2578608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Regras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578608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56448" y="2724912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2724912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578608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Condicionais no formulário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236976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" y="3383280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38328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236976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Arquivos soltos e cópias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3236976"/>
            <a:ext cx="3566160" cy="566928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3236976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Base de dados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236976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56448" y="338328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3383280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236976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Base única e consolidada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895344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6928" y="4041648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404164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3895344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Todos viam tudo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51960" y="3895344"/>
            <a:ext cx="3566160" cy="566928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51960" y="3895344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Visibilidade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3895344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56448" y="4041648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56448" y="4041648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3895344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Analista vê só os seus casos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553712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66928" y="4700016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470001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553712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Conferidos manualmente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60" y="4553712"/>
            <a:ext cx="3566160" cy="566928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51960" y="4553712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Prazos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4553712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156448" y="4700016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56448" y="4700016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4553712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Farol automático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212079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6928" y="5358383"/>
            <a:ext cx="274320" cy="274320"/>
          </a:xfrm>
          <a:prstGeom prst="ellipse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" y="5358383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5212079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Relatório montado à mão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51960" y="5212079"/>
            <a:ext cx="3566160" cy="566928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51960" y="5212079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Gestão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5212079"/>
            <a:ext cx="3657600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156448" y="5358383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56448" y="5358383"/>
            <a:ext cx="27432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20" y="5212079"/>
            <a:ext cx="31546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Visão operacional pronta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594360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A1B52"/>
                </a:solidFill>
                <a:latin typeface="Calibri"/>
              </a:rPr>
              <a:t>Erros de preenchimento: redução de quase 100%  ·  valor observado no piloto, a confirmar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Formulário guiado: o erro deixa de ser possível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TELA · FORMULÁRIO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24712"/>
            <a:ext cx="7077455" cy="405444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8d6a2a1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949440" cy="392643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0" y="1188720"/>
            <a:ext cx="39319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09560" y="1554480"/>
            <a:ext cx="457200" cy="45720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54480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28016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52"/>
                </a:solidFill>
                <a:latin typeface="Calibri"/>
              </a:rPr>
              <a:t>Listas em cascata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645920"/>
            <a:ext cx="31089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8C"/>
                </a:solidFill>
                <a:latin typeface="Calibri"/>
              </a:rPr>
              <a:t>Sucursal, UF e Cidade. Motivo e Submotivo. Cada escolha filtra a próxima.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514600"/>
            <a:ext cx="39319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09560" y="2880360"/>
            <a:ext cx="457200" cy="45720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880360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060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52"/>
                </a:solidFill>
                <a:latin typeface="Calibri"/>
              </a:rPr>
              <a:t>Obrigatórios marcados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71800"/>
            <a:ext cx="31089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8C"/>
                </a:solidFill>
                <a:latin typeface="Calibri"/>
              </a:rPr>
              <a:t>O asterisco indica o que não pode ficar em branco. Não salva incompleto.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840480"/>
            <a:ext cx="39319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4206240"/>
            <a:ext cx="457200" cy="45720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206240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93192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52"/>
                </a:solidFill>
                <a:latin typeface="Calibri"/>
              </a:rPr>
              <a:t>Campos calculados e travados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297680"/>
            <a:ext cx="31089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8C"/>
                </a:solidFill>
                <a:latin typeface="Calibri"/>
              </a:rPr>
              <a:t>Status do vencimento e Recebemos em atraso? ninguém digita.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49240"/>
            <a:ext cx="21945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458968"/>
            <a:ext cx="64008" cy="74066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22392"/>
            <a:ext cx="1920240" cy="52806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A1B52"/>
                </a:solidFill>
                <a:latin typeface="Calibri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06109"/>
            <a:ext cx="19202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campos em 5 seções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5349240"/>
            <a:ext cx="21945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0360" y="5458968"/>
            <a:ext cx="64008" cy="740664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5422392"/>
            <a:ext cx="1920240" cy="52806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A1B52"/>
                </a:solidFill>
                <a:latin typeface="Calibri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5906109"/>
            <a:ext cx="19202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obrigatórios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57800" y="5349240"/>
            <a:ext cx="21945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57800" y="5458968"/>
            <a:ext cx="64008" cy="74066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5422392"/>
            <a:ext cx="1920240" cy="52806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A1B52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5906109"/>
            <a:ext cx="19202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combinações inválidas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5349240"/>
            <a:ext cx="3931920" cy="960120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5349240"/>
            <a:ext cx="365760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Erro de combinação e campo em branco deixam de acontecer.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Prazo automático: o farol que ninguém precisa conferir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TELA ·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13716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52728"/>
            <a:ext cx="64008" cy="832103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16152"/>
            <a:ext cx="1097280" cy="57835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A1B52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52904"/>
            <a:ext cx="1097280" cy="42062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Vencido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143000"/>
            <a:ext cx="13716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1252728"/>
            <a:ext cx="64008" cy="832103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1216152"/>
            <a:ext cx="1097280" cy="57835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A1B52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1752904"/>
            <a:ext cx="1097280" cy="42062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Vence hoje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143000"/>
            <a:ext cx="13716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252728"/>
            <a:ext cx="64008" cy="832103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1216152"/>
            <a:ext cx="1097280" cy="57835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A1B52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1752904"/>
            <a:ext cx="1097280" cy="42062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Vence amanhã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143000"/>
            <a:ext cx="137160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252728"/>
            <a:ext cx="64008" cy="832103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216152"/>
            <a:ext cx="1097280" cy="57835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A1B52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752904"/>
            <a:ext cx="1097280" cy="42062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À vencer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377440"/>
            <a:ext cx="57607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487168"/>
            <a:ext cx="539495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782A"/>
                </a:solidFill>
                <a:latin typeface="Calibri"/>
              </a:rPr>
              <a:t>SITUAÇÃO DOS PRAZOS (DADOS DE DEMONSTRAÇÃO)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40080" y="2743200"/>
          <a:ext cx="539496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5303520"/>
            <a:ext cx="5760720" cy="1005840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539496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Calculado a partir da Data de Vencimento. Também sinaliza sozinho quando o caso foi recebido em atraso.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3952" y="1124712"/>
            <a:ext cx="5248655" cy="302117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6ca1857a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188720"/>
            <a:ext cx="5120640" cy="289316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537960" y="4251960"/>
            <a:ext cx="51206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315968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782A"/>
                </a:solidFill>
                <a:latin typeface="Calibri"/>
              </a:rPr>
              <a:t>NO DASHBOARD DO APLICATIVO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663440"/>
            <a:ext cx="475488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Total de reclamações e taxa de conclusão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Casos por farol de prazo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Casos por status (aguardando, em aberto, finalizados...)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Distribuição por status em barras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Cada um vê o que é seu: perfis de acesso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CONTROLE DE ACESSO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301752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017520" cy="10972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18288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VERSÃO ANALISTA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2651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A1B52"/>
                </a:solidFill>
                <a:latin typeface="Calibri"/>
              </a:rPr>
              <a:t>Só os seus casos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2651760" cy="3291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4A5A8C"/>
                </a:solidFill>
                <a:latin typeface="Calibri"/>
              </a:rPr>
              <a:t>•  Reconhece o e-mail de quem entrou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A5A8C"/>
                </a:solidFill>
                <a:latin typeface="Calibri"/>
              </a:rPr>
              <a:t>•  Mostra apenas os processos sob sua responsabilidade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A5A8C"/>
                </a:solidFill>
                <a:latin typeface="Calibri"/>
              </a:rPr>
              <a:t>•  Sem risco de mexer no registro de outra pessoa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1143000"/>
            <a:ext cx="301752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1143000"/>
            <a:ext cx="3017520" cy="1097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94760" y="14630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1463040"/>
            <a:ext cx="18288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VERSÃO GESTOR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920240"/>
            <a:ext cx="26517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A1B52"/>
                </a:solidFill>
                <a:latin typeface="Calibri"/>
              </a:rPr>
              <a:t>Todos os casos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834640"/>
            <a:ext cx="2651760" cy="3291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4A5A8C"/>
                </a:solidFill>
                <a:latin typeface="Calibri"/>
              </a:rPr>
              <a:t>•  Enxerga a operação inteira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A5A8C"/>
                </a:solidFill>
                <a:latin typeface="Calibri"/>
              </a:rPr>
              <a:t>•  Atribui ou troca o analista de um caso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A5A8C"/>
                </a:solidFill>
                <a:latin typeface="Calibri"/>
              </a:rPr>
              <a:t>•  Acompanha prazos e status em um só lugar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93992" y="1124712"/>
            <a:ext cx="4974336" cy="286618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0f64482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4846320" cy="273817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858000" y="4069080"/>
            <a:ext cx="4846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4178808"/>
            <a:ext cx="448055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782A"/>
                </a:solidFill>
                <a:latin typeface="Calibri"/>
              </a:rPr>
              <a:t>DOIS PERFIS, O MESMO MÉTODO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4526280"/>
            <a:ext cx="141732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4636008"/>
            <a:ext cx="64008" cy="74066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4599432"/>
            <a:ext cx="1143000" cy="52806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A1B52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083149"/>
            <a:ext cx="11430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perfis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4526280"/>
            <a:ext cx="141732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95360" y="4636008"/>
            <a:ext cx="64008" cy="74066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4599432"/>
            <a:ext cx="1143000" cy="52806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A1B52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5083149"/>
            <a:ext cx="11430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e-mail = identidade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4526280"/>
            <a:ext cx="141732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49840" y="4636008"/>
            <a:ext cx="64008" cy="74066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9" y="4599432"/>
            <a:ext cx="1143000" cy="52806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A1B52"/>
                </a:solidFill>
                <a:latin typeface="Calibr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9" y="5083149"/>
            <a:ext cx="114300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planilha paralela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577840"/>
            <a:ext cx="4572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Para dados sensíveis, o passo seguinte é reforçar com permissão na lista, junto com a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Visão de gestão: busca geral 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TELAS · BUSCA 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24712"/>
            <a:ext cx="5614416" cy="32278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0f64482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486400" cy="309981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99631" y="1124712"/>
            <a:ext cx="5614416" cy="32278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ca1857a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486400" cy="30998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526280"/>
            <a:ext cx="557784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36008"/>
            <a:ext cx="521207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782A"/>
                </a:solidFill>
                <a:latin typeface="Calibri"/>
              </a:rPr>
              <a:t>BUSCA GERAL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521208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30 colunas, uma para cada campo do formulário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Procura por protocolo, beneficiário, status ou prazo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Resultado em segundos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26280"/>
            <a:ext cx="548640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636008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782A"/>
                </a:solidFill>
                <a:latin typeface="Calibri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92040"/>
            <a:ext cx="51206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Indicadores e distribuição por status em um só lugar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Redistribuição de casos pelo gestor, sem sair do app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Sem montar relatório à mão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Segundo case: ACP, a mesma ideia em outro processo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CASE 2 · ANÁLISE DE CONTAS PAGAS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1124712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108813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782A"/>
                </a:solidFill>
                <a:latin typeface="Calibri"/>
              </a:rPr>
              <a:t>CADA CASO PERCORRE UMA SEQUÊNCIA DE EVENTOS</a:t>
            </a:r>
          </a:p>
        </p:txBody>
      </p:sp>
      <p:sp>
        <p:nvSpPr>
          <p:cNvPr id="10" name="Pentagon 9"/>
          <p:cNvSpPr/>
          <p:nvPr/>
        </p:nvSpPr>
        <p:spPr>
          <a:xfrm>
            <a:off x="685800" y="1691640"/>
            <a:ext cx="2606040" cy="1234440"/>
          </a:xfrm>
          <a:prstGeom prst="homePlat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2194560" cy="12344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Análise</a:t>
            </a:r>
          </a:p>
        </p:txBody>
      </p:sp>
      <p:sp>
        <p:nvSpPr>
          <p:cNvPr id="12" name="Pentagon 11"/>
          <p:cNvSpPr/>
          <p:nvPr/>
        </p:nvSpPr>
        <p:spPr>
          <a:xfrm>
            <a:off x="3429000" y="1691640"/>
            <a:ext cx="2606040" cy="1234440"/>
          </a:xfrm>
          <a:prstGeom prst="homePlate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91640"/>
            <a:ext cx="2194560" cy="12344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Pendência</a:t>
            </a:r>
          </a:p>
        </p:txBody>
      </p:sp>
      <p:sp>
        <p:nvSpPr>
          <p:cNvPr id="14" name="Pentagon 13"/>
          <p:cNvSpPr/>
          <p:nvPr/>
        </p:nvSpPr>
        <p:spPr>
          <a:xfrm>
            <a:off x="6172200" y="1691640"/>
            <a:ext cx="2606040" cy="1234440"/>
          </a:xfrm>
          <a:prstGeom prst="homePlat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691640"/>
            <a:ext cx="2194560" cy="12344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Réplica</a:t>
            </a:r>
          </a:p>
        </p:txBody>
      </p:sp>
      <p:sp>
        <p:nvSpPr>
          <p:cNvPr id="16" name="Pentagon 15"/>
          <p:cNvSpPr/>
          <p:nvPr/>
        </p:nvSpPr>
        <p:spPr>
          <a:xfrm>
            <a:off x="8915400" y="1691640"/>
            <a:ext cx="2606040" cy="1234440"/>
          </a:xfrm>
          <a:prstGeom prst="homePlate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691640"/>
            <a:ext cx="2194560" cy="12344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Tréplica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26517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84448"/>
            <a:ext cx="64008" cy="969264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47872"/>
            <a:ext cx="2377440" cy="6537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A1B52"/>
                </a:solidFill>
                <a:latin typeface="Calibri"/>
              </a:rPr>
              <a:t>Lote + Senha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4177"/>
            <a:ext cx="23774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bloqueia cadastro duplicado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474720"/>
            <a:ext cx="26517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584448"/>
            <a:ext cx="64008" cy="969264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547872"/>
            <a:ext cx="2377440" cy="6537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A1B52"/>
                </a:solidFill>
                <a:latin typeface="Calibri"/>
              </a:rPr>
              <a:t>Setor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164177"/>
            <a:ext cx="23774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só aparece quando o evento é Pendência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474720"/>
            <a:ext cx="26517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584448"/>
            <a:ext cx="64008" cy="9692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547872"/>
            <a:ext cx="2377440" cy="6537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A1B52"/>
                </a:solidFill>
                <a:latin typeface="Calibri"/>
              </a:rPr>
              <a:t>Sequência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164177"/>
            <a:ext cx="23774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calculada pelo app, não digitada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3474720"/>
            <a:ext cx="26517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0" y="3584448"/>
            <a:ext cx="64008" cy="96926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3547872"/>
            <a:ext cx="2377440" cy="6537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A1B52"/>
                </a:solidFill>
                <a:latin typeface="Calibri"/>
              </a:rPr>
              <a:t>2 perfis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64177"/>
            <a:ext cx="237744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A5A8C"/>
                </a:solidFill>
                <a:latin typeface="Calibri"/>
              </a:rPr>
              <a:t>analista vê os seus; gestor vê todos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46320"/>
            <a:ext cx="112471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956048"/>
            <a:ext cx="108813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782A"/>
                </a:solidFill>
                <a:latin typeface="Calibri"/>
              </a:rPr>
              <a:t>INDICADORES DO PAINEL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34924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349240"/>
            <a:ext cx="3383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Total de casos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534924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5349240"/>
            <a:ext cx="3383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Valor total questionado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534924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5349240"/>
            <a:ext cx="3383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Contadores por tipo de evento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Ganhos e benefícios por público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3383280" cy="5166360"/>
          </a:xfrm>
          <a:prstGeom prst="roundRect">
            <a:avLst>
              <a:gd name="adj" fmla="val 4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3832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1B52"/>
                </a:solidFill>
                <a:latin typeface="Calibri"/>
              </a:rPr>
              <a:t>REDUÇÃO DE ERROS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3383280" cy="12801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0A1B52"/>
                </a:solidFill>
                <a:latin typeface="Calibri"/>
              </a:rPr>
              <a:t>~100%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301752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0A1B52"/>
                </a:solidFill>
                <a:latin typeface="Calibri"/>
              </a:rPr>
              <a:t>nos erros de preenchimento, segundo a observação do piloto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301752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A1B52"/>
                </a:solidFill>
                <a:latin typeface="Calibri"/>
              </a:rPr>
              <a:t>Menos parada na operação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A1B52"/>
                </a:solidFill>
                <a:latin typeface="Calibri"/>
              </a:rPr>
              <a:t>Menos correção manual</a:t>
            </a:r>
          </a:p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A1B52"/>
                </a:solidFill>
                <a:latin typeface="Calibri"/>
              </a:rPr>
              <a:t>Dado confiável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143000"/>
            <a:ext cx="36576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1143000"/>
            <a:ext cx="3657600" cy="9144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4173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417320"/>
            <a:ext cx="16459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ANALISTA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874519"/>
            <a:ext cx="329184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Fila própria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Formulário guiado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Prazo sempre à vista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Ajuda dentro do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143000"/>
            <a:ext cx="36576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143000"/>
            <a:ext cx="3657600" cy="914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14173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417320"/>
            <a:ext cx="16459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GESTOR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874519"/>
            <a:ext cx="329184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Operação inteira em um lugar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Prazos e status em tempo real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Reatribui casos em poucos cliques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Decide com dado confiável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3794760"/>
            <a:ext cx="36576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9080" y="3794760"/>
            <a:ext cx="3657600" cy="9144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51960" y="40690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4069080"/>
            <a:ext cx="16459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OPERAÇÃO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526280"/>
            <a:ext cx="329184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Menos retrabalho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Menos paradas por erro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Mesma regra para todos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Sem planilha paralela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3794760"/>
            <a:ext cx="36576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9560" y="3794760"/>
            <a:ext cx="3657600" cy="9144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2440" y="40690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4069080"/>
            <a:ext cx="164592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EMPRESA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526280"/>
            <a:ext cx="329184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Base única e consolidada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Pronta para virar indicador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Rastreável: quem fez o quê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Replicável em outras áreas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Como vamos medir os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INDICADORES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82296" cy="192024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52728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A1B52"/>
                </a:solidFill>
                <a:latin typeface="Calibri"/>
              </a:rPr>
              <a:t>Erros de preenchimento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09928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8C"/>
                </a:solidFill>
                <a:latin typeface="Calibri"/>
              </a:rPr>
              <a:t>Registros corrigidos ou rejeitados por mês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14173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1417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ANTES</a:t>
            </a:r>
          </a:p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 medir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2468880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468880"/>
            <a:ext cx="16459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64545"/>
                </a:solidFill>
                <a:latin typeface="Calibri"/>
              </a:rPr>
              <a:t>META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D64545"/>
                </a:solidFill>
                <a:latin typeface="Calibri"/>
              </a:rPr>
              <a:t>Queda sobre a linha de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43000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280160"/>
            <a:ext cx="82296" cy="192024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252728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A1B52"/>
                </a:solidFill>
                <a:latin typeface="Calibri"/>
              </a:rPr>
              <a:t>Paradas por erro de dado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09928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8C"/>
                </a:solidFill>
                <a:latin typeface="Calibri"/>
              </a:rPr>
              <a:t>Ocorrências em que a operação parou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2468880"/>
            <a:ext cx="14173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468880"/>
            <a:ext cx="1417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ANTES</a:t>
            </a:r>
          </a:p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 medir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2468880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2468880"/>
            <a:ext cx="16459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8782A"/>
                </a:solidFill>
                <a:latin typeface="Calibri"/>
              </a:rPr>
              <a:t>META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E8782A"/>
                </a:solidFill>
                <a:latin typeface="Calibri"/>
              </a:rPr>
              <a:t>Tender a zero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143000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280160"/>
            <a:ext cx="82296" cy="19202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252728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A1B52"/>
                </a:solidFill>
                <a:latin typeface="Calibri"/>
              </a:rPr>
              <a:t>Tempo de registro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709928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8C"/>
                </a:solidFill>
                <a:latin typeface="Calibri"/>
              </a:rPr>
              <a:t>Minutos por caso, amostra de analistas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2468880"/>
            <a:ext cx="14173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468880"/>
            <a:ext cx="1417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ANTES</a:t>
            </a:r>
          </a:p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 medir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468880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468880"/>
            <a:ext cx="16459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Calibri"/>
              </a:rPr>
              <a:t>META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Calibri"/>
              </a:rPr>
              <a:t>Redução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74720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611879"/>
            <a:ext cx="82296" cy="192024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584448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A1B52"/>
                </a:solidFill>
                <a:latin typeface="Calibri"/>
              </a:rPr>
              <a:t>Casos vencidos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041648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8C"/>
                </a:solidFill>
                <a:latin typeface="Calibri"/>
              </a:rPr>
              <a:t>Percentual com farol vermelho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800600"/>
            <a:ext cx="14173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800600"/>
            <a:ext cx="1417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ANTES</a:t>
            </a:r>
          </a:p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 medir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0" y="4800600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4800600"/>
            <a:ext cx="16459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A1B52"/>
                </a:solidFill>
                <a:latin typeface="Calibri"/>
              </a:rPr>
              <a:t>META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0A1B52"/>
                </a:solidFill>
                <a:latin typeface="Calibri"/>
              </a:rPr>
              <a:t>Redução semana a semana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51960" y="3474720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60" y="3611879"/>
            <a:ext cx="82296" cy="192024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3584448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A1B52"/>
                </a:solidFill>
                <a:latin typeface="Calibri"/>
              </a:rPr>
              <a:t>Tempo de relatório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4041648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8C"/>
                </a:solidFill>
                <a:latin typeface="Calibri"/>
              </a:rPr>
              <a:t>Horas por semana na consolidação manual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26280" y="4800600"/>
            <a:ext cx="14173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4800600"/>
            <a:ext cx="1417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ANTES</a:t>
            </a:r>
          </a:p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 medir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4800600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4800600"/>
            <a:ext cx="16459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E9E5B"/>
                </a:solidFill>
                <a:latin typeface="Calibri"/>
              </a:rPr>
              <a:t>META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2E9E5B"/>
                </a:solidFill>
                <a:latin typeface="Calibri"/>
              </a:rPr>
              <a:t>Redução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3474720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46720" y="3611879"/>
            <a:ext cx="82296" cy="192024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3584448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A1B52"/>
                </a:solidFill>
                <a:latin typeface="Calibri"/>
              </a:rPr>
              <a:t>Adoção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041648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A8C"/>
                </a:solidFill>
                <a:latin typeface="Calibri"/>
              </a:rPr>
              <a:t>Analistas usando o app / analistas do canal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21040" y="4800600"/>
            <a:ext cx="14173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4800600"/>
            <a:ext cx="14173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ANTES</a:t>
            </a:r>
          </a:p>
          <a:p>
            <a:pPr algn="ctr">
              <a:spcAft>
                <a:spcPts val="0"/>
              </a:spcAft>
            </a:pPr>
            <a:r>
              <a:rPr sz="1100" b="1">
                <a:solidFill>
                  <a:srgbClr val="4A5A8C"/>
                </a:solidFill>
                <a:latin typeface="Calibri"/>
              </a:rPr>
              <a:t>a medir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75520" y="4800600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0" y="4800600"/>
            <a:ext cx="16459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A1B52"/>
                </a:solidFill>
                <a:latin typeface="Calibri"/>
              </a:rPr>
              <a:t>META</a:t>
            </a:r>
          </a:p>
          <a:p>
            <a:pPr algn="ctr">
              <a:spcAft>
                <a:spcPts val="0"/>
              </a:spcAft>
            </a:pPr>
            <a:r>
              <a:rPr sz="1000" b="1">
                <a:solidFill>
                  <a:srgbClr val="0A1B52"/>
                </a:solidFill>
                <a:latin typeface="Calibri"/>
              </a:rPr>
              <a:t>Crescimento por canal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Mesma operação, mesmos indicadores, antes e depois do piloto.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E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" cy="36576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6868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Como levar para outras áreas: caminho em quatro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56032"/>
            <a:ext cx="30175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C9D3F5"/>
                </a:solidFill>
                <a:latin typeface="Calibri"/>
              </a:rPr>
              <a:t>EXPANSÃO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Gestão de Rede de Reclamações  ·  ACP  ·  Case de inovação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4A5A8C"/>
                </a:solidFill>
                <a:latin typeface="Calibri"/>
              </a:rPr>
              <a:t>12</a:t>
            </a:r>
          </a:p>
        </p:txBody>
      </p:sp>
      <p:sp>
        <p:nvSpPr>
          <p:cNvPr id="8" name="Pentagon 7"/>
          <p:cNvSpPr/>
          <p:nvPr/>
        </p:nvSpPr>
        <p:spPr>
          <a:xfrm>
            <a:off x="457200" y="1143000"/>
            <a:ext cx="2697480" cy="822960"/>
          </a:xfrm>
          <a:prstGeom prst="homePlat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43000"/>
            <a:ext cx="21945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  Levantar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242316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A planilha atual: campos, regras e quem usa</a:t>
            </a:r>
          </a:p>
        </p:txBody>
      </p:sp>
      <p:sp>
        <p:nvSpPr>
          <p:cNvPr id="12" name="Pentagon 11"/>
          <p:cNvSpPr/>
          <p:nvPr/>
        </p:nvSpPr>
        <p:spPr>
          <a:xfrm>
            <a:off x="3291840" y="1143000"/>
            <a:ext cx="2697480" cy="822960"/>
          </a:xfrm>
          <a:prstGeom prst="homePlate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143000"/>
            <a:ext cx="21945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  Desenhar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1031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194560"/>
            <a:ext cx="242316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Formulário, listas e condicionais da área</a:t>
            </a:r>
          </a:p>
        </p:txBody>
      </p:sp>
      <p:sp>
        <p:nvSpPr>
          <p:cNvPr id="16" name="Pentagon 15"/>
          <p:cNvSpPr/>
          <p:nvPr/>
        </p:nvSpPr>
        <p:spPr>
          <a:xfrm>
            <a:off x="6126480" y="1143000"/>
            <a:ext cx="2697480" cy="822960"/>
          </a:xfrm>
          <a:prstGeom prst="homePlat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143000"/>
            <a:ext cx="21945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  Pilotar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1031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194560"/>
            <a:ext cx="242316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Um analista por canal usa de verdade</a:t>
            </a:r>
          </a:p>
        </p:txBody>
      </p:sp>
      <p:sp>
        <p:nvSpPr>
          <p:cNvPr id="20" name="Pentagon 19"/>
          <p:cNvSpPr/>
          <p:nvPr/>
        </p:nvSpPr>
        <p:spPr>
          <a:xfrm>
            <a:off x="8961120" y="1143000"/>
            <a:ext cx="2697480" cy="822960"/>
          </a:xfrm>
          <a:prstGeom prst="homePlate">
            <a:avLst/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143000"/>
            <a:ext cx="219456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  Expandir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10312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194560"/>
            <a:ext cx="242316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Ajusta, treina e abre para a equipe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548640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67328"/>
            <a:ext cx="5120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782A"/>
                </a:solidFill>
                <a:latin typeface="Calibri"/>
              </a:rPr>
              <a:t>O QUE DÁ ESCALA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69080"/>
            <a:ext cx="512064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Arquitetura e componentes já existem e são reaproveitados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Manual por perfil e ajuda dentro do app já prontos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0A1B52"/>
                </a:solidFill>
                <a:latin typeface="Calibri"/>
              </a:rPr>
              <a:t>•  Cada área nova se concentra em entender as próprias regras, que é onde o ganho aparece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657600"/>
            <a:ext cx="5486400" cy="2651760"/>
          </a:xfrm>
          <a:prstGeom prst="roundRect">
            <a:avLst>
              <a:gd name="adj" fmla="val 4000"/>
            </a:avLst>
          </a:prstGeom>
          <a:solidFill>
            <a:srgbClr val="0A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79476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782A"/>
                </a:solidFill>
                <a:latin typeface="Calibri"/>
              </a:rPr>
              <a:t>PRÓXIMOS PASSOS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06240"/>
            <a:ext cx="50292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Quem quer ser a próxima área?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20640"/>
            <a:ext cx="50292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C9D3F5"/>
                </a:solidFill>
                <a:latin typeface="Calibri"/>
              </a:rPr>
              <a:t>1.  Cada área indica um processo que roda em planilha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C9D3F5"/>
                </a:solidFill>
                <a:latin typeface="Calibri"/>
              </a:rPr>
              <a:t>2.  Alinhar com a TI licença, acesso e permissões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C9D3F5"/>
                </a:solidFill>
                <a:latin typeface="Calibri"/>
              </a:rPr>
              <a:t>3.  Escolher o primeiro piloto e marcar o levantamento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