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 a todos. Hoje eu quero mostrar uma ideia que começou pequena, dentro da nossa operação, e que hoje já mudou a forma como a gente trabalha. Não é uma apresentação técnica. É a história de um problema que todo mundo aqui conhece e de como a gente resolveu. No final, quero propor que a gente leve isso para as outras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mundo aqui conhece essa cena. Uma planilha compartilhada, várias pessoas mexendo ao mesmo tempo, cada uma preenchendo do seu jeito. Não existia campo validado nem regra: se alguém digitasse errado, ficava errado. E o erro não ficava parado na célula. Ele quebrava filtro, quebrava relatório, e em alguns momentos a operação precisava parar para corrigir. O problema nunca foi a pessoa. Foi a ferramenta não ter nenhuma proteção.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foi simples de dizer e trabalhosa de fazer: parar de usar a planilha como sistema. Em vez de cada um abrir um arquivo e escrever o que quiser, a pessoa abre um aplicativo que pergunta o que precisa, só aceita o que faz sentido e grava tudo no mesmo lugar. A planilha deixa de ser o centro do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Explicando sem termo técnico: são três camadas. Na ponta, o aplicativo, que é o que o analista usa no dia a dia. No meio, uma base única, onde tudo fica guardado, sem cópia nem versão paralela. E no fim, a visão de gestão, que sai pronta dessa base. Dois aplicativos já foram construídos assim: a Gestão de Rede de Reclamações e o ACP, de análise de contas pagas. Mais adiante, como evolução, entram Power Automate e Power BI. Isso ainda é proposta, não está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resume tudo. Do lado esquerdo, como era. Do direito, como é agora. Reparem que não mudou o objetivo, que continua sendo registrar e acompanhar os casos. Mudou o jeito: o que antes dependia de atenção da pessoa agora está dentro do aplicativo. Campo validado, regra embutida, base única, cada analista com a sua fila e o prazo calculado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o coração da solução. O formulário conduz a pessoa. Na região, ela escolhe a sucursal e o aplicativo só oferece as UFs e cidades daquela sucursal. No motivo, acontece o mesmo com o submotivo. Os campos obrigatórios impedem salvar o registro incompleto e os campos calculados ficam travados. É por isso que o erro de combinação e o campo em branco praticamente deixaram de acontecer. Erro de digitação em campo livre, como nome ou protocolo, ainda pode existir.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prazo era uma das maiores fontes de risco. Agora o aplicativo calcula a partir da data de vencimento e mostra a cor: vermelho para vencido, laranja para vence hoje, amarelo para amanhã e verde para o que ainda está no prazo. Ninguém precisa abrir a planilha e fazer conta. Existe também uma chave, que o próprio sistema preenche, que indica quando o caso chegou para a gente já em atraso. O analista não mexe 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entra a organização do trabalho. O analista abre o aplicativo e vê somente os casos dele, sem ruído e sem risco de mexer no registro de outra pessoa. O gestor tem a visão completa e pode reatribuir um caso quando precisar redistribuir a carga. O filtro vem do e-mail da conta da pessoa. Para dados mais sensíveis, o passo seguinte é reforçar com permissão na própria lista, junto com a 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quem gerencia, a base única muda o trabalho. Antes, para saber a situação da operação era preciso juntar planilhas. Agora existe um painel com os totais, uma busca que varre todos os campos do formulário e a possibilidade de redistribuir casos. Quando entrarmos com Power BI, a ideia é evoluir esse painel, mas isso é a próxima fase e vou deixar claro que ainda não está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segundo aplicativo é o ACP, de análise de contas pagas. O processo é outro, mas o raciocínio é o mesmo. O caso passa por eventos, que são análise, pendência, réplica e tréplica, em sequência automática. O aplicativo não deixa cadastrar duas vezes o mesmo lote e senha e só pergunta o setor quando o evento é uma pendência. Também tem perfil de analista e de gestor, com redistribuição, e um painel com o total de casos e o valor total questionado. A prova de que a ideia não é de um processo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número que mais chama atenção, e eu quero ser transparente: a redução de quase 100% nos erros de preenchimento vem da observação do piloto. Ainda vamos formalizar a medição, e é isso que o próximo slide mostra. O que importa aqui é o efeito em cadeia: menos erro significa menos correção, menos parada de operação e um dado em que todo mundo pode confiar. [A CONFIRMAR: base de comparação do número antes da reunião.]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público ganha uma coisa diferente. O analista trabalha com menos dúvida e menos retrabalho. O gestor para de montar relatório à mão e passa a enxergar a operação. E para a empresa o ganho é o dado confiável e um modelo que pode ser repetido. Esse último ponto é o que traz a gente para o próximo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 isso seja um case sério, a gente precisa de número. Proponho acompanhar quatro indicadores: erros de preenchimento, paradas de operação por dado incorreto, casos em atraso e o tempo de registro de um caso. Com uma medição antes e outra depois, qualquer área consegue ver o ganho com os próprios dados, sem depender da minha palavra.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para outras áreas segue quatro passos. Primeiro, sentar com a área e levantar a planilha que ela usa: os campos, as regras, quem preenche. Segundo, desenhar o formulário com as listas e condicionais. Terceiro, o piloto, com um analista por canal usando de verdade. E quarto, ajustar, treinar e abrir para todos. Os manuais de treinamento que já existem servem de modelo. Prazo eu prefiro dar depois do levantamento, com a planilha real em mãos.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fechar, o convite. Quero que cada área pense em um processo que hoje roda em planilha e que dá trabalho. Com a TI, a gente alinha licença, acesso e permissões. E aí escolhemos o primeiro piloto e marcamos o levantamento. Foi uma ideia pequena que mudou a forma de trabalhar de uma equipe inteira, e acredito que dá para repetir. Obrigado a todos.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023360"/>
            <a:ext cx="1554480" cy="155448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782A"/>
                </a:solidFill>
                <a:latin typeface="DM Sans"/>
              </a:rPr>
              <a:t>CASE DE INOVAÇÃO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8229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5F3EE"/>
                </a:solidFill>
                <a:latin typeface="DM Sans"/>
              </a:rPr>
              <a:t>Da planilha à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7772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3F5"/>
                </a:solidFill>
                <a:latin typeface="DM Sans"/>
              </a:rPr>
              <a:t>Como um aplicativo simples organizou o fluxo de trabalho e abriu caminho para outras áreas.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3F5"/>
                </a:solidFill>
                <a:latin typeface="DM Sans"/>
              </a:rPr>
              <a:t>Apresentação do projeto ·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O 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Uma planilha, muitas pessoas, nenhuma regra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Edição simultânea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Várias pessoas na mesma planilha, ao mesmo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Campos livres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Sem validação. Cada um escrevia do seu jeito.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Sem regras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Nenhuma condicional para impedir combinações erradas.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Operação parada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>Erro de preenchimento virava retrabalho e, às vezes, paralisação.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1B52"/>
                </a:solidFill>
                <a:latin typeface="DM Sans"/>
              </a:rPr>
              <a:t>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A1B52"/>
                </a:solidFill>
                <a:latin typeface="DM Sans"/>
              </a:rPr>
              <a:t>E se a planilha deixasse de ser o sistema?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8686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A1A0A"/>
                </a:solidFill>
                <a:latin typeface="DM Sans"/>
              </a:rPr>
              <a:t>Um aplicativo que guia o preenchimento, aplica as regras e guarda tudo em uma base única.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O QUE 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Três camadas, uma única fonte de verdade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33223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1 · Aplicativo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Quem usa. Power Apps: formulário guiado, busca e painel.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9600" y="2743200"/>
            <a:ext cx="33223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2 · Base única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Onde fica. Lista no SharePoint: todos gravam e leem do mesmo lugar.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39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6239" y="2743200"/>
            <a:ext cx="33223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39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3 · Gestão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39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O que gera. Prazos, filas e indicadores sem montar planilha à mão.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ANTES E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O que mudou no dia a dia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031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1148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5F3EE"/>
                          </a:solidFill>
                          <a:latin typeface="DM Sans"/>
                        </a:defRPr>
                      </a:pPr>
                    </a:p>
                  </a:txBody>
                  <a:tcPr>
                    <a:solidFill>
                      <a:srgbClr val="0A1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5F3EE"/>
                          </a:solidFill>
                          <a:latin typeface="DM Sans"/>
                        </a:rPr>
                        <a:t>Antes: planilha</a:t>
                      </a:r>
                    </a:p>
                  </a:txBody>
                  <a:tcPr>
                    <a:solidFill>
                      <a:srgbClr val="3A4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Agora: aplicativo</a:t>
                      </a:r>
                    </a:p>
                  </a:txBody>
                  <a:tcPr>
                    <a:solidFill>
                      <a:srgbClr val="E878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Preenchimento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Campo livre, cada um do seu jeito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Campos validados e listas guiadas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Regras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Nenhuma, dependia de atenção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Condicionais embutidas no formulário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Base de 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Arquivos soltos e cópias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Base única e consolidada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Quem vê o quê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Todos viam tudo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Cada analista vê os seus casos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Prazos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Conferidos manualmente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Farol automático por vencimento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A1B52"/>
                          </a:solidFill>
                          <a:latin typeface="DM Sans"/>
                        </a:rPr>
                        <a:t>Gestão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A4A80"/>
                          </a:solidFill>
                          <a:latin typeface="DM Sans"/>
                        </a:rPr>
                        <a:t>Relatório montado à mão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A1B52"/>
                          </a:solidFill>
                          <a:latin typeface="DM Sans"/>
                        </a:rPr>
                        <a:t>Visão operacional pronta</a:t>
                      </a:r>
                    </a:p>
                  </a:txBody>
                  <a:tcPr>
                    <a:solidFill>
                      <a:srgbClr val="EEEAE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FORMULÁRIO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5F3EE"/>
                </a:solidFill>
                <a:latin typeface="DM Sans"/>
              </a:rPr>
              <a:t>O erro deixa de ser possível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Listas em cascata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Sucursal, UF e Cidade: cada escolha filtra a próxima. Combinação inválida não existe.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820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Motivo e submotivo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O submotivo só mostra o que pertence ao motivo escolhido.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239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4839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Obrigatórios e travados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839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>Não salva incompleto. Campos calculados ficam bloqueados.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3F5"/>
                </a:solidFill>
                <a:latin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PRAZO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Um farol que ninguém precisa conferir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Vencido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1965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Prazo já passou. Prioridade máxima.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7432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Vence hoje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749039"/>
            <a:ext cx="1965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Último dia para responder.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Vence amanhã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39"/>
            <a:ext cx="1965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Atenção para o dia seguinte.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À vencer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49039"/>
            <a:ext cx="1965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Dentro do prazo, sem urgência.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743200"/>
            <a:ext cx="128016" cy="2011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39" y="2743200"/>
            <a:ext cx="128016" cy="201168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43200"/>
            <a:ext cx="128016" cy="2011680"/>
          </a:xfrm>
          <a:prstGeom prst="rect">
            <a:avLst/>
          </a:prstGeom>
          <a:solidFill>
            <a:srgbClr val="E0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743200"/>
            <a:ext cx="128016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A1B52"/>
                </a:solidFill>
                <a:latin typeface="DM Sans"/>
              </a:rPr>
              <a:t>O app também sinaliza sozinho quando o caso foi recebido em atraso.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PERFIS DE ACESSO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Cada analista vê o que é seu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512064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Versão Analista · Só os seus casos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466344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O aplicativo reconhece o e-mail de quem entrou e mostra apenas os processos sob a responsabilidade dele.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743200"/>
            <a:ext cx="512064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Versão Gestor · Todos os 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49039"/>
            <a:ext cx="466344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Acompanha toda a operação e pode redistribuir um caso de um analista para outro.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VISÃO DE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5F3EE"/>
                </a:solidFill>
                <a:latin typeface="DM Sans"/>
              </a:rPr>
              <a:t>A operação enxergada de uma vez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Totais, prazos e situação dos casos no mesmo lugar.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820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Busca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Procura em todos os campos do formulário, em 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239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4839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Redistribuição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839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>O gestor troca o analista de um caso sem sair do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3F5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SEGUNDO CASE · ACP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A mesma ideia em outro processo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834639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1 · Análise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560320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256032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834639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2 · Pendência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56616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56032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39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3 · Réplica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560320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834639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4 · Tréplica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56616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A4A80"/>
                </a:solidFill>
                <a:latin typeface="DM Sans"/>
              </a:rPr>
              <a:t>Análise de contas pagas: cada caso recebe uma sequência de eventos. O app bloqueia duplicidade por lote e senha e só pede o setor quando há pendência.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1B52"/>
                </a:solidFill>
                <a:latin typeface="DM Sans"/>
              </a:rPr>
              <a:t>O GANHO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Menos erro, menos retrabalho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9436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0A1B52"/>
                </a:solidFill>
                <a:latin typeface="DM Sans"/>
              </a:rPr>
              <a:t>~100%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3017520"/>
            <a:ext cx="47548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A1B52"/>
                </a:solidFill>
                <a:latin typeface="DM Sans"/>
              </a:rPr>
              <a:t>de redução nos erros de preenchimento, segundo a observação do piloto.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5F3EE"/>
                </a:solidFill>
                <a:latin typeface="DM Sans"/>
              </a:rPr>
              <a:t>Menos paradas na operação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02920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5029200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5F3EE"/>
                </a:solidFill>
                <a:latin typeface="DM Sans"/>
              </a:rPr>
              <a:t>Menos correção 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502920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5029200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5F3EE"/>
                </a:solidFill>
                <a:latin typeface="DM Sans"/>
              </a:rPr>
              <a:t>Dado confiável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Quem ganha com isso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33223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Analista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Fila própria, formulário guiado e prazo sempre à vista. Menos dúvida, menos correção.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9600" y="2743200"/>
            <a:ext cx="33223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Gestão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Visão da operação em tempo real e redistribuição de casos sem planilha paralela.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39" y="2743200"/>
            <a:ext cx="3322320" cy="23774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839" y="3017520"/>
            <a:ext cx="2865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Empresa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839" y="3749039"/>
            <a:ext cx="2865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>Dado confiável, processo padronizado e uma solução que se repete em outras áreas.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COMO VAMOS MEDIR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5F3EE"/>
                </a:solidFill>
                <a:latin typeface="DM Sans"/>
              </a:rPr>
              <a:t>Resultado que dá para acompanhar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143500" cy="173736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46863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Erros de preenchimento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46863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Correções por período, antes e depois.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377440"/>
            <a:ext cx="5143500" cy="173736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2651760"/>
            <a:ext cx="46863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Paradas na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3383280"/>
            <a:ext cx="46863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Ocorrências causadas por dado incorreto.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5143500" cy="173736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46863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Casos em atraso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49240"/>
            <a:ext cx="46863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Percentual vencido, pelo farol de prazo.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4343400"/>
            <a:ext cx="5143500" cy="1737360"/>
          </a:xfrm>
          <a:prstGeom prst="roundRect">
            <a:avLst>
              <a:gd name="adj" fmla="val 6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4617720"/>
            <a:ext cx="46863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F3EE"/>
                </a:solidFill>
                <a:latin typeface="DM Sans"/>
              </a:rPr>
              <a:t>Tempo de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60" y="5349240"/>
            <a:ext cx="46863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F5"/>
                </a:solidFill>
                <a:latin typeface="DM Sans"/>
              </a:rPr>
              <a:t>Quanto leva para cadastrar um caso.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3F5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82A"/>
                </a:solidFill>
                <a:latin typeface="DM Sans"/>
              </a:rPr>
              <a:t>COMO LEVAR PARA OUTRAS ÁREAS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A1B52"/>
                </a:solidFill>
                <a:latin typeface="DM Sans"/>
              </a:rPr>
              <a:t>Um caminho em quatro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1 · Levantar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A planilha atual: campos, regras e quem usa.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2 · Desenhar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Formulário, listas e condicionais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42316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3 · Pilotar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4A80"/>
                </a:solidFill>
                <a:latin typeface="DM Sans"/>
              </a:rPr>
              <a:t>Um analista por canal começa a usar de verdade.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2423160" cy="2377440"/>
          </a:xfrm>
          <a:prstGeom prst="roundRect">
            <a:avLst>
              <a:gd name="adj" fmla="val 6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017520"/>
            <a:ext cx="1965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A1B52"/>
                </a:solidFill>
                <a:latin typeface="DM Sans"/>
              </a:rPr>
              <a:t>4 · Expandir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49039"/>
            <a:ext cx="1965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A1B52"/>
                </a:solidFill>
                <a:latin typeface="DM Sans"/>
              </a:rPr>
              <a:t>Ajusta, treina e abre para toda a equipe.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4A80"/>
                </a:solidFill>
                <a:latin typeface="DM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4389120"/>
            <a:ext cx="4023360" cy="4023360"/>
          </a:xfrm>
          <a:prstGeom prst="ellipse">
            <a:avLst/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822960"/>
            <a:ext cx="1280160" cy="128016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782A"/>
                </a:solidFill>
                <a:latin typeface="DM Sans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229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5F3EE"/>
                </a:solidFill>
                <a:latin typeface="DM Sans"/>
              </a:rPr>
              <a:t>Quem quer ser a próxima área?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6868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3F5"/>
                </a:solidFill>
                <a:latin typeface="DM Sans"/>
              </a:rPr>
              <a:t>1. Cada área indica um processo que hoje roda em planilha.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3F5"/>
                </a:solidFill>
                <a:latin typeface="DM Sans"/>
              </a:rPr>
              <a:t>2. Alinhar com a TI licença, acesso e permissões.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3F5"/>
                </a:solidFill>
                <a:latin typeface="DM Sans"/>
              </a:rPr>
              <a:t>3. Escolher o primeiro piloto e marcar o levantamento.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3F5"/>
                </a:solidFill>
                <a:latin typeface="DM Sans"/>
              </a:rPr>
              <a:t>15 · 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